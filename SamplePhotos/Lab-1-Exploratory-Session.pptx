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5"/>
    <p:sldId id="261" r:id="rId4"/>
    <p:sldId id="262" r:id="rId3"/>
    <p:sldId id="263" r:id="rId2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9144000" cy="5143500" type="screen16x9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5A"/>
    <a:srgbClr val="006E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654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A427-594D-4DC6-91AB-8E212982C6FC}" type="datetimeFigureOut">
              <a:rPr lang="pl-PL" smtClean="0"/>
              <a:pPr/>
              <a:t>22.01.2024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D736C-86D4-4551-A40A-B63AEAC8AC35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868912"/>
            <a:ext cx="3672408" cy="2664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50000"/>
            <a:ext cx="7315200" cy="72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Lato"/>
              </a:rPr>
              <a:t>LABORATORY 1 — YOUR FIRST EXPLORATORY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4300000"/>
            <a:ext cx="67056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Lato"/>
              </a:rPr>
              <a:t>Application Testing · Laboratory 1 · Akademia WSEI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TODAY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90 minutes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You need: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a laptop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a browser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a GitHub account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Nothing to install.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Today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5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You will </a:t>
            </a:r>
            <a:r>
              <a:rPr sz="1500" b="1">
                <a:solidFill>
                  <a:srgbClr val="002A5A"/>
                </a:solidFill>
                <a:latin typeface="Lato"/>
              </a:rPr>
              <a:t>explore a web shop for 40 minutes</a:t>
            </a:r>
            <a:r>
              <a:rPr sz="1500" b="0">
                <a:solidFill>
                  <a:srgbClr val="002A5A"/>
                </a:solidFill>
                <a:latin typeface="Lato"/>
              </a:rPr>
              <a:t> and write down everything that looks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712" y="1804520"/>
            <a:ext cx="6800000" cy="5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At the end your team has </a:t>
            </a:r>
            <a:r>
              <a:rPr sz="1500" b="1">
                <a:solidFill>
                  <a:srgbClr val="002A5A"/>
                </a:solidFill>
                <a:latin typeface="Lato"/>
              </a:rPr>
              <a:t>one file in GitHub</a:t>
            </a:r>
            <a:r>
              <a:rPr sz="1500" b="0">
                <a:solidFill>
                  <a:srgbClr val="002A5A"/>
                </a:solidFill>
                <a:latin typeface="Lato"/>
              </a:rPr>
              <a:t>: </a:t>
            </a:r>
            <a:r>
              <a:rPr sz="1500" b="1">
                <a:solidFill>
                  <a:srgbClr val="005CC8"/>
                </a:solidFill>
                <a:latin typeface="Consolas"/>
              </a:rPr>
              <a:t>sessions/L1-session.md</a:t>
            </a:r>
            <a:r>
              <a:rPr sz="1500" b="0">
                <a:solidFill>
                  <a:srgbClr val="002A5A"/>
                </a:solidFill>
                <a:latin typeface="Lato"/>
              </a:rPr>
              <a:t> — this is artefact </a:t>
            </a:r>
            <a:r>
              <a:rPr sz="1500" b="1">
                <a:solidFill>
                  <a:srgbClr val="002A5A"/>
                </a:solidFill>
                <a:latin typeface="Lato"/>
              </a:rPr>
              <a:t>TP1</a:t>
            </a:r>
            <a:r>
              <a:rPr sz="1500" b="0">
                <a:solidFill>
                  <a:srgbClr val="002A5A"/>
                </a:solidFill>
                <a:latin typeface="Lato"/>
              </a:rPr>
              <a:t> (1 of 12).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79712" y="2409040"/>
          <a:ext cx="6800000" cy="207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00"/>
                <a:gridCol w="4896000"/>
                <a:gridCol w="1224000"/>
              </a:tblGrid>
              <a:tr h="29637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Step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What you do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Time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0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Team, GitHub repository, log in to the shop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10 min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1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Meet the product — no bug hunting yet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15 min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2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Write one charter per person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10 min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3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The exploratory session — timer on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40 min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4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Debrief as a team — five questions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10 min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5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Commit the file + submit the link in Moodle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5 min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BEFORE STEP 0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Remote? Join your team on a call for Steps 0–2.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Before you start — check these 4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211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You have a </a:t>
            </a:r>
            <a:r>
              <a:rPr sz="1500" b="1">
                <a:solidFill>
                  <a:srgbClr val="002A5A"/>
                </a:solidFill>
                <a:latin typeface="Lato"/>
              </a:rPr>
              <a:t>laptop with a browser</a:t>
            </a:r>
            <a:r>
              <a:rPr sz="1500" b="0">
                <a:solidFill>
                  <a:srgbClr val="002A5A"/>
                </a:solidFill>
                <a:latin typeface="Lato"/>
              </a:rPr>
              <a:t> (Chrome, Edge or Firefox).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You are logged in to </a:t>
            </a:r>
            <a:r>
              <a:rPr sz="1500" b="1">
                <a:solidFill>
                  <a:srgbClr val="002A5A"/>
                </a:solidFill>
                <a:latin typeface="Lato"/>
              </a:rPr>
              <a:t>Moodle</a:t>
            </a:r>
            <a:r>
              <a:rPr sz="1500" b="0">
                <a:solidFill>
                  <a:srgbClr val="002A5A"/>
                </a:solidFill>
                <a:latin typeface="Lato"/>
              </a:rPr>
              <a:t> and have the course page open: Week 1 · Why We Test → </a:t>
            </a:r>
            <a:r>
              <a:rPr sz="1500" b="1">
                <a:solidFill>
                  <a:srgbClr val="002A5A"/>
                </a:solidFill>
                <a:latin typeface="Lato"/>
              </a:rPr>
              <a:t>Lab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You have a </a:t>
            </a:r>
            <a:r>
              <a:rPr sz="1500" b="1">
                <a:solidFill>
                  <a:srgbClr val="002A5A"/>
                </a:solidFill>
                <a:latin typeface="Lato"/>
              </a:rPr>
              <a:t>free GitHub account</a:t>
            </a:r>
            <a:r>
              <a:rPr sz="1500" b="0">
                <a:solidFill>
                  <a:srgbClr val="002A5A"/>
                </a:solidFill>
                <a:latin typeface="Lato"/>
              </a:rPr>
              <a:t>. No account? Create one now at </a:t>
            </a:r>
            <a:r>
              <a:rPr sz="1500" b="1">
                <a:solidFill>
                  <a:srgbClr val="005CC8"/>
                </a:solidFill>
                <a:latin typeface="Consolas"/>
              </a:rPr>
              <a:t>github.com/signup</a:t>
            </a:r>
            <a:r>
              <a:rPr sz="1500" b="0">
                <a:solidFill>
                  <a:srgbClr val="002A5A"/>
                </a:solidFill>
                <a:latin typeface="Lato"/>
              </a:rPr>
              <a:t>. Choose a username you are happy for students and the lecturer to see.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4.  You know who is in your team — </a:t>
            </a:r>
            <a:r>
              <a:rPr sz="1500" b="1">
                <a:solidFill>
                  <a:srgbClr val="002A5A"/>
                </a:solidFill>
                <a:latin typeface="Lato"/>
              </a:rPr>
              <a:t>3 or 4 people, from your own lab group</a:t>
            </a:r>
            <a:r>
              <a:rPr sz="1500" b="0">
                <a:solidFill>
                  <a:srgbClr val="002A5A"/>
                </a:solidFill>
                <a:latin typeface="Lato"/>
              </a:rPr>
              <a:t>. This team stays together for the whole semester.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3389480"/>
            <a:ext cx="6800000" cy="58450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B01E2D"/>
                </a:solidFill>
                <a:latin typeface="Lato"/>
              </a:rPr>
              <a:t>No team yet?</a:t>
            </a:r>
            <a:r>
              <a:rPr sz="1400" b="0">
                <a:solidFill>
                  <a:srgbClr val="002A5A"/>
                </a:solidFill>
                <a:latin typeface="Lato"/>
              </a:rPr>
              <a:t> Tell the lecturer now, or post in the forum </a:t>
            </a:r>
            <a:r>
              <a:rPr sz="1400" b="1">
                <a:solidFill>
                  <a:srgbClr val="002A5A"/>
                </a:solidFill>
                <a:latin typeface="Lato"/>
              </a:rPr>
              <a:t>Questions and team finder</a:t>
            </a:r>
            <a:r>
              <a:rPr sz="1400" b="0">
                <a:solidFill>
                  <a:srgbClr val="002A5A"/>
                </a:solidFill>
                <a:latin typeface="Lato"/>
              </a:rPr>
              <a:t>. Do not wait until Laboratory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100000"/>
            <a:ext cx="6705600" cy="1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Lato"/>
              </a:rPr>
              <a:t>STEP 0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Lato"/>
              </a:rPr>
              <a:t>Set up · 10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10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Part 1 of 4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Who: every member of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0.1  Register your team in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1880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In Moodle open </a:t>
            </a:r>
            <a:r>
              <a:rPr sz="1500" b="1">
                <a:solidFill>
                  <a:srgbClr val="002A5A"/>
                </a:solidFill>
                <a:latin typeface="Lato"/>
              </a:rPr>
              <a:t>Week 1 → Lab → Team registration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Pick a </a:t>
            </a:r>
            <a:r>
              <a:rPr sz="1500" b="1">
                <a:solidFill>
                  <a:srgbClr val="002A5A"/>
                </a:solidFill>
                <a:latin typeface="Lato"/>
              </a:rPr>
              <a:t>team number</a:t>
            </a:r>
            <a:r>
              <a:rPr sz="1500" b="0">
                <a:solidFill>
                  <a:srgbClr val="002A5A"/>
                </a:solidFill>
                <a:latin typeface="Lato"/>
              </a:rPr>
              <a:t>. </a:t>
            </a:r>
            <a:r>
              <a:rPr sz="1500" b="1">
                <a:solidFill>
                  <a:srgbClr val="002A5A"/>
                </a:solidFill>
                <a:latin typeface="Lato"/>
              </a:rPr>
              <a:t>Every member picks the same number.</a:t>
            </a:r>
            <a:r>
              <a:rPr sz="1500" b="0">
                <a:solidFill>
                  <a:srgbClr val="002A5A"/>
                </a:solidFill>
                <a:latin typeface="Lato"/>
              </a:rPr>
              <a:t> Pick the </a:t>
            </a:r>
            <a:r>
              <a:rPr sz="1500" b="1">
                <a:solidFill>
                  <a:srgbClr val="002A5A"/>
                </a:solidFill>
                <a:latin typeface="Lato"/>
              </a:rPr>
              <a:t>lowest free number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Click </a:t>
            </a:r>
            <a:r>
              <a:rPr sz="1500" b="1">
                <a:solidFill>
                  <a:srgbClr val="002A5A"/>
                </a:solidFill>
                <a:latin typeface="Lato"/>
              </a:rPr>
              <a:t>Save my choice</a:t>
            </a:r>
            <a:r>
              <a:rPr sz="1500" b="0">
                <a:solidFill>
                  <a:srgbClr val="002A5A"/>
                </a:solidFill>
                <a:latin typeface="Lato"/>
              </a:rPr>
              <a:t>. One number = max 4 people. You can change it until registration closes.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4.  Remember the number — it goes into </a:t>
            </a:r>
            <a:r>
              <a:rPr sz="1500" b="1">
                <a:solidFill>
                  <a:srgbClr val="002A5A"/>
                </a:solidFill>
                <a:latin typeface="Lato"/>
              </a:rPr>
              <a:t>every file name, artefact and review</a:t>
            </a:r>
            <a:r>
              <a:rPr sz="1500" b="0">
                <a:solidFill>
                  <a:srgbClr val="002A5A"/>
                </a:solidFill>
                <a:latin typeface="Lato"/>
              </a:rPr>
              <a:t> this semester.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3157070"/>
            <a:ext cx="6800000" cy="584500"/>
          </a:xfrm>
          <a:prstGeom prst="rect">
            <a:avLst/>
          </a:prstGeom>
          <a:solidFill>
            <a:srgbClr val="E4F4E8"/>
          </a:solidFill>
          <a:ln w="12700">
            <a:solidFill>
              <a:srgbClr val="1B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002A5A"/>
                </a:solidFill>
                <a:latin typeface="Lato"/>
              </a:rPr>
              <a:t>Done when:</a:t>
            </a:r>
            <a:r>
              <a:rPr sz="1400" b="0">
                <a:solidFill>
                  <a:srgbClr val="002A5A"/>
                </a:solidFill>
                <a:latin typeface="Lato"/>
              </a:rPr>
              <a:t> all members of your team see their names under the same team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10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Part 2 of 4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Who: one person per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0.2  Post your team in the forum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887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Open </a:t>
            </a:r>
            <a:r>
              <a:rPr sz="1500" b="1">
                <a:solidFill>
                  <a:srgbClr val="002A5A"/>
                </a:solidFill>
                <a:latin typeface="Lato"/>
              </a:rPr>
              <a:t>Week 1 → Lab → Questions and team finder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Open the pinned discussion </a:t>
            </a:r>
            <a:r>
              <a:rPr sz="1500" b="1">
                <a:solidFill>
                  <a:srgbClr val="002A5A"/>
                </a:solidFill>
                <a:latin typeface="Lato"/>
              </a:rPr>
              <a:t>Team directory — post your team here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Click </a:t>
            </a:r>
            <a:r>
              <a:rPr sz="1500" b="1">
                <a:solidFill>
                  <a:srgbClr val="002A5A"/>
                </a:solidFill>
                <a:latin typeface="Lato"/>
              </a:rPr>
              <a:t>Reply</a:t>
            </a:r>
            <a:r>
              <a:rPr sz="1500" b="0">
                <a:solidFill>
                  <a:srgbClr val="002A5A"/>
                </a:solidFill>
                <a:latin typeface="Lato"/>
              </a:rPr>
              <a:t> and fill in (one reply per team):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2163930"/>
            <a:ext cx="6800000" cy="128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Team number: 3</a:t>
            </a:r>
          </a:p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Repository name: app-testing-team-03</a:t>
            </a:r>
          </a:p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Members (name — GitHub username):</a:t>
            </a:r>
          </a:p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- Anna Kowalska — annak-dev</a:t>
            </a:r>
          </a:p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- Jan Nowak — jnowak22</a:t>
            </a:r>
          </a:p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-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9712" y="3548530"/>
            <a:ext cx="6800000" cy="264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002A5A"/>
                </a:solidFill>
                <a:latin typeface="Lato"/>
              </a:rPr>
              <a:t>Why: other teams need your </a:t>
            </a:r>
            <a:r>
              <a:rPr sz="1300" b="1">
                <a:solidFill>
                  <a:srgbClr val="002A5A"/>
                </a:solidFill>
                <a:latin typeface="Lato"/>
              </a:rPr>
              <a:t>GitHub usernames</a:t>
            </a:r>
            <a:r>
              <a:rPr sz="1300" b="0">
                <a:solidFill>
                  <a:srgbClr val="002A5A"/>
                </a:solidFill>
                <a:latin typeface="Lato"/>
              </a:rPr>
              <a:t> to give you access for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10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Part 3 of 4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Who: one person creates, everyone accepts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Labels are next week — skip them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0.3  Create the repository (one person)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2052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002A5A"/>
                </a:solidFill>
                <a:latin typeface="Lato"/>
              </a:rPr>
              <a:t>1.  On GitHub click </a:t>
            </a:r>
            <a:r>
              <a:rPr sz="1400" b="1">
                <a:solidFill>
                  <a:srgbClr val="002A5A"/>
                </a:solidFill>
                <a:latin typeface="Lato"/>
              </a:rPr>
              <a:t>+</a:t>
            </a:r>
            <a:r>
              <a:rPr sz="1400" b="0">
                <a:solidFill>
                  <a:srgbClr val="002A5A"/>
                </a:solidFill>
                <a:latin typeface="Lato"/>
              </a:rPr>
              <a:t> (top right) → </a:t>
            </a:r>
            <a:r>
              <a:rPr sz="1400" b="1">
                <a:solidFill>
                  <a:srgbClr val="002A5A"/>
                </a:solidFill>
                <a:latin typeface="Lato"/>
              </a:rPr>
              <a:t>New repository</a:t>
            </a:r>
            <a:r>
              <a:rPr sz="14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2A5A"/>
                </a:solidFill>
                <a:latin typeface="Lato"/>
              </a:rPr>
              <a:t>2.  Repository name: </a:t>
            </a:r>
            <a:r>
              <a:rPr sz="1400" b="1">
                <a:solidFill>
                  <a:srgbClr val="005CC8"/>
                </a:solidFill>
                <a:latin typeface="Consolas"/>
              </a:rPr>
              <a:t>app-testing-team-NN</a:t>
            </a:r>
            <a:r>
              <a:rPr sz="1400" b="0">
                <a:solidFill>
                  <a:srgbClr val="002A5A"/>
                </a:solidFill>
                <a:latin typeface="Lato"/>
              </a:rPr>
              <a:t> (NN = your team number, e.g. </a:t>
            </a:r>
            <a:r>
              <a:rPr sz="1400" b="1">
                <a:solidFill>
                  <a:srgbClr val="005CC8"/>
                </a:solidFill>
                <a:latin typeface="Consolas"/>
              </a:rPr>
              <a:t>app-testing-team-03</a:t>
            </a:r>
            <a:r>
              <a:rPr sz="1400" b="0">
                <a:solidFill>
                  <a:srgbClr val="002A5A"/>
                </a:solidFill>
                <a:latin typeface="Lato"/>
              </a:rPr>
              <a:t>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2A5A"/>
                </a:solidFill>
                <a:latin typeface="Lato"/>
              </a:rPr>
              <a:t>3.  Visibility: </a:t>
            </a:r>
            <a:r>
              <a:rPr sz="1400" b="1">
                <a:solidFill>
                  <a:srgbClr val="002A5A"/>
                </a:solidFill>
                <a:latin typeface="Lato"/>
              </a:rPr>
              <a:t>Private</a:t>
            </a:r>
            <a:r>
              <a:rPr sz="1400" b="0">
                <a:solidFill>
                  <a:srgbClr val="002A5A"/>
                </a:solidFill>
                <a:latin typeface="Lato"/>
              </a:rPr>
              <a:t>. Tick </a:t>
            </a:r>
            <a:r>
              <a:rPr sz="1400" b="1">
                <a:solidFill>
                  <a:srgbClr val="002A5A"/>
                </a:solidFill>
                <a:latin typeface="Lato"/>
              </a:rPr>
              <a:t>Add a README file</a:t>
            </a:r>
            <a:r>
              <a:rPr sz="1400" b="0">
                <a:solidFill>
                  <a:srgbClr val="002A5A"/>
                </a:solidFill>
                <a:latin typeface="Lato"/>
              </a:rPr>
              <a:t>. Click </a:t>
            </a:r>
            <a:r>
              <a:rPr sz="1400" b="1">
                <a:solidFill>
                  <a:srgbClr val="002A5A"/>
                </a:solidFill>
                <a:latin typeface="Lato"/>
              </a:rPr>
              <a:t>Create repository</a:t>
            </a:r>
            <a:r>
              <a:rPr sz="14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2A5A"/>
                </a:solidFill>
                <a:latin typeface="Lato"/>
              </a:rPr>
              <a:t>4.  Go to </a:t>
            </a:r>
            <a:r>
              <a:rPr sz="1400" b="1">
                <a:solidFill>
                  <a:srgbClr val="002A5A"/>
                </a:solidFill>
                <a:latin typeface="Lato"/>
              </a:rPr>
              <a:t>Settings → Collaborators → Add people</a:t>
            </a:r>
            <a:r>
              <a:rPr sz="1400" b="0">
                <a:solidFill>
                  <a:srgbClr val="002A5A"/>
                </a:solidFill>
                <a:latin typeface="Lato"/>
              </a:rPr>
              <a:t> and add, one by one: </a:t>
            </a:r>
            <a:r>
              <a:rPr sz="1400" b="1">
                <a:solidFill>
                  <a:srgbClr val="002A5A"/>
                </a:solidFill>
                <a:latin typeface="Lato"/>
              </a:rPr>
              <a:t>every teammate</a:t>
            </a:r>
            <a:r>
              <a:rPr sz="1400" b="0">
                <a:solidFill>
                  <a:srgbClr val="002A5A"/>
                </a:solidFill>
                <a:latin typeface="Lato"/>
              </a:rPr>
              <a:t> and </a:t>
            </a:r>
            <a:r>
              <a:rPr sz="1400" b="1">
                <a:solidFill>
                  <a:srgbClr val="002A5A"/>
                </a:solidFill>
                <a:latin typeface="Lato"/>
              </a:rPr>
              <a:t>the lecturer</a:t>
            </a:r>
            <a:r>
              <a:rPr sz="14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002A5A"/>
                </a:solidFill>
                <a:latin typeface="Lato"/>
              </a:rPr>
              <a:t>5.  Every person you added must </a:t>
            </a:r>
            <a:r>
              <a:rPr sz="1400" b="1">
                <a:solidFill>
                  <a:srgbClr val="002A5A"/>
                </a:solidFill>
                <a:latin typeface="Lato"/>
              </a:rPr>
              <a:t>accept the invitation</a:t>
            </a:r>
            <a:r>
              <a:rPr sz="1400" b="0">
                <a:solidFill>
                  <a:srgbClr val="002A5A"/>
                </a:solidFill>
                <a:latin typeface="Lato"/>
              </a:rPr>
              <a:t> (e-mail from GitHub or </a:t>
            </a:r>
            <a:r>
              <a:rPr sz="1400" b="1">
                <a:solidFill>
                  <a:srgbClr val="005CC8"/>
                </a:solidFill>
                <a:latin typeface="Consolas"/>
              </a:rPr>
              <a:t>github.com/notifications</a:t>
            </a:r>
            <a:r>
              <a:rPr sz="1400" b="0">
                <a:solidFill>
                  <a:srgbClr val="002A5A"/>
                </a:solidFill>
                <a:latin typeface="Lato"/>
              </a:rPr>
              <a:t>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3329028"/>
            <a:ext cx="6800000" cy="58450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0">
                <a:solidFill>
                  <a:srgbClr val="002A5A"/>
                </a:solidFill>
                <a:latin typeface="Lato"/>
              </a:rPr>
              <a:t>Lecturer’s GitHub username: </a:t>
            </a:r>
            <a:r>
              <a:rPr sz="1400" b="1">
                <a:solidFill>
                  <a:srgbClr val="002A5A"/>
                </a:solidFill>
                <a:latin typeface="Lato"/>
              </a:rPr>
              <a:t>@ ____________</a:t>
            </a:r>
            <a:r>
              <a:rPr sz="1400" b="0">
                <a:solidFill>
                  <a:srgbClr val="002A5A"/>
                </a:solidFill>
                <a:latin typeface="Lato"/>
              </a:rPr>
              <a:t> (on the board). </a:t>
            </a:r>
            <a:r>
              <a:rPr sz="1400" b="1">
                <a:solidFill>
                  <a:srgbClr val="B01E2D"/>
                </a:solidFill>
                <a:latin typeface="Lato"/>
              </a:rPr>
              <a:t>Without the lecturer as a collaborator nothing you submit can be opened.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10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Part 4 of 4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Cannot log in? Try a private window (Ctrl+Shift+N).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0.4  Open the product and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141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Open </a:t>
            </a:r>
            <a:r>
              <a:rPr sz="1500" b="1">
                <a:solidFill>
                  <a:srgbClr val="005CC8"/>
                </a:solidFill>
                <a:latin typeface="Consolas"/>
              </a:rPr>
              <a:t>https://with-bugs.practicesoftwaretesting.com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Click </a:t>
            </a:r>
            <a:r>
              <a:rPr sz="1500" b="1">
                <a:solidFill>
                  <a:srgbClr val="002A5A"/>
                </a:solidFill>
                <a:latin typeface="Lato"/>
              </a:rPr>
              <a:t>Sign in</a:t>
            </a:r>
            <a:r>
              <a:rPr sz="1500" b="0">
                <a:solidFill>
                  <a:srgbClr val="002A5A"/>
                </a:solidFill>
                <a:latin typeface="Lato"/>
              </a:rPr>
              <a:t>. E-mail: </a:t>
            </a:r>
            <a:r>
              <a:rPr sz="1500" b="1">
                <a:solidFill>
                  <a:srgbClr val="005CC8"/>
                </a:solidFill>
                <a:latin typeface="Consolas"/>
              </a:rPr>
              <a:t>customer@practicesoftwaretesting.com</a:t>
            </a:r>
            <a:r>
              <a:rPr sz="1500" b="0">
                <a:solidFill>
                  <a:srgbClr val="002A5A"/>
                </a:solidFill>
                <a:latin typeface="Lato"/>
              </a:rPr>
              <a:t>  Password: </a:t>
            </a:r>
            <a:r>
              <a:rPr sz="1500" b="1">
                <a:solidFill>
                  <a:srgbClr val="005CC8"/>
                </a:solidFill>
                <a:latin typeface="Consolas"/>
              </a:rPr>
              <a:t>welcome01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Look at the </a:t>
            </a:r>
            <a:r>
              <a:rPr sz="1500" b="1">
                <a:solidFill>
                  <a:srgbClr val="002A5A"/>
                </a:solidFill>
                <a:latin typeface="Lato"/>
              </a:rPr>
              <a:t>browser tab</a:t>
            </a:r>
            <a:r>
              <a:rPr sz="1500" b="0">
                <a:solidFill>
                  <a:srgbClr val="002A5A"/>
                </a:solidFill>
                <a:latin typeface="Lato"/>
              </a:rPr>
              <a:t>. It must say </a:t>
            </a:r>
            <a:r>
              <a:rPr sz="1500" b="1">
                <a:solidFill>
                  <a:srgbClr val="002A5A"/>
                </a:solidFill>
                <a:latin typeface="Lato"/>
              </a:rPr>
              <a:t>Toolshop - v5.0 with bugs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4.  Write </a:t>
            </a:r>
            <a:r>
              <a:rPr sz="1500" b="1">
                <a:solidFill>
                  <a:srgbClr val="002A5A"/>
                </a:solidFill>
                <a:latin typeface="Lato"/>
              </a:rPr>
              <a:t>with-bugs</a:t>
            </a:r>
            <a:r>
              <a:rPr sz="1500" b="0">
                <a:solidFill>
                  <a:srgbClr val="002A5A"/>
                </a:solidFill>
                <a:latin typeface="Lato"/>
              </a:rPr>
              <a:t> in your notes as the build under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2692250"/>
            <a:ext cx="6800000" cy="58450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0">
                <a:solidFill>
                  <a:srgbClr val="002A5A"/>
                </a:solidFill>
                <a:latin typeface="Lato"/>
              </a:rPr>
              <a:t>Tab does </a:t>
            </a:r>
            <a:r>
              <a:rPr sz="1400" b="1">
                <a:solidFill>
                  <a:srgbClr val="002A5A"/>
                </a:solidFill>
                <a:latin typeface="Lato"/>
              </a:rPr>
              <a:t>not</a:t>
            </a:r>
            <a:r>
              <a:rPr sz="1400" b="0">
                <a:solidFill>
                  <a:srgbClr val="002A5A"/>
                </a:solidFill>
                <a:latin typeface="Lato"/>
              </a:rPr>
              <a:t> say “with bugs”? You are on the </a:t>
            </a:r>
            <a:r>
              <a:rPr sz="1400" b="1">
                <a:solidFill>
                  <a:srgbClr val="B01E2D"/>
                </a:solidFill>
                <a:latin typeface="Lato"/>
              </a:rPr>
              <a:t>wrong build</a:t>
            </a:r>
            <a:r>
              <a:rPr sz="1400" b="0">
                <a:solidFill>
                  <a:srgbClr val="002A5A"/>
                </a:solidFill>
                <a:latin typeface="Lato"/>
              </a:rPr>
              <a:t>. Your findings will not match anyone else’s. Use exactly the address above.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9712" y="3378350"/>
            <a:ext cx="6800000" cy="362250"/>
          </a:xfrm>
          <a:prstGeom prst="rect">
            <a:avLst/>
          </a:prstGeom>
          <a:solidFill>
            <a:srgbClr val="E4F4E8"/>
          </a:solidFill>
          <a:ln w="12700">
            <a:solidFill>
              <a:srgbClr val="1B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002A5A"/>
                </a:solidFill>
                <a:latin typeface="Lato"/>
              </a:rPr>
              <a:t>Done when:</a:t>
            </a:r>
            <a:r>
              <a:rPr sz="1400" b="0">
                <a:solidFill>
                  <a:srgbClr val="002A5A"/>
                </a:solidFill>
                <a:latin typeface="Lato"/>
              </a:rPr>
              <a:t> everyone in the team is logged in on the with-bugs 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100000"/>
            <a:ext cx="6705600" cy="1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Lato"/>
              </a:rPr>
              <a:t>STEP 1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Lato"/>
              </a:rPr>
              <a:t>Meet the product · 15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1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15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Keep these notes!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They go into the file (section “Product model”).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In Lab 3 you turn them into requirements.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Meet the product — do NOT hunt for bugs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295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Click around together. Write </a:t>
            </a:r>
            <a:r>
              <a:rPr sz="1500" b="1">
                <a:solidFill>
                  <a:srgbClr val="002A5A"/>
                </a:solidFill>
                <a:latin typeface="Lato"/>
              </a:rPr>
              <a:t>one sentence</a:t>
            </a:r>
            <a:r>
              <a:rPr sz="1500" b="0">
                <a:solidFill>
                  <a:srgbClr val="002A5A"/>
                </a:solidFill>
                <a:latin typeface="Lato"/>
              </a:rPr>
              <a:t> for each 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712" y="1572110"/>
            <a:ext cx="6800000" cy="147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What can a </a:t>
            </a:r>
            <a:r>
              <a:rPr sz="1500" b="1">
                <a:solidFill>
                  <a:srgbClr val="002A5A"/>
                </a:solidFill>
                <a:latin typeface="Lato"/>
              </a:rPr>
              <a:t>visitor who is not logged in</a:t>
            </a:r>
            <a:r>
              <a:rPr sz="1500" b="0">
                <a:solidFill>
                  <a:srgbClr val="002A5A"/>
                </a:solidFill>
                <a:latin typeface="Lato"/>
              </a:rPr>
              <a:t> do?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What </a:t>
            </a:r>
            <a:r>
              <a:rPr sz="1500" b="1">
                <a:solidFill>
                  <a:srgbClr val="002A5A"/>
                </a:solidFill>
                <a:latin typeface="Lato"/>
              </a:rPr>
              <a:t>changes once you log in</a:t>
            </a:r>
            <a:r>
              <a:rPr sz="1500" b="0">
                <a:solidFill>
                  <a:srgbClr val="002A5A"/>
                </a:solidFill>
                <a:latin typeface="Lato"/>
              </a:rPr>
              <a:t> as a customer?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Where does </a:t>
            </a:r>
            <a:r>
              <a:rPr sz="1500" b="1">
                <a:solidFill>
                  <a:srgbClr val="002A5A"/>
                </a:solidFill>
                <a:latin typeface="Lato"/>
              </a:rPr>
              <a:t>money</a:t>
            </a:r>
            <a:r>
              <a:rPr sz="1500" b="0">
                <a:solidFill>
                  <a:srgbClr val="002A5A"/>
                </a:solidFill>
                <a:latin typeface="Lato"/>
              </a:rPr>
              <a:t> appear — prices, cart, checkout, payment?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4.  What can an </a:t>
            </a:r>
            <a:r>
              <a:rPr sz="1500" b="1">
                <a:solidFill>
                  <a:srgbClr val="002A5A"/>
                </a:solidFill>
                <a:latin typeface="Lato"/>
              </a:rPr>
              <a:t>administrator</a:t>
            </a:r>
            <a:r>
              <a:rPr sz="1500" b="0">
                <a:solidFill>
                  <a:srgbClr val="002A5A"/>
                </a:solidFill>
                <a:latin typeface="Lato"/>
              </a:rPr>
              <a:t> do that a customer cannot?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5.  What is the product </a:t>
            </a:r>
            <a:r>
              <a:rPr sz="1500" b="1">
                <a:solidFill>
                  <a:srgbClr val="002A5A"/>
                </a:solidFill>
                <a:latin typeface="Lato"/>
              </a:rPr>
              <a:t>for</a:t>
            </a:r>
            <a:r>
              <a:rPr sz="1500" b="0">
                <a:solidFill>
                  <a:srgbClr val="002A5A"/>
                </a:solidFill>
                <a:latin typeface="Lato"/>
              </a:rPr>
              <a:t>? Who would use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9712" y="3127860"/>
            <a:ext cx="6800000" cy="806750"/>
          </a:xfrm>
          <a:prstGeom prst="rect">
            <a:avLst/>
          </a:prstGeom>
          <a:solidFill>
            <a:srgbClr val="EEF3FA"/>
          </a:solidFill>
          <a:ln w="12700">
            <a:solidFill>
              <a:srgbClr val="005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002A5A"/>
                </a:solidFill>
                <a:latin typeface="Lato"/>
              </a:rPr>
              <a:t>Admin account</a:t>
            </a:r>
            <a:r>
              <a:rPr sz="1400" b="0">
                <a:solidFill>
                  <a:srgbClr val="002A5A"/>
                </a:solidFill>
                <a:latin typeface="Lato"/>
              </a:rPr>
              <a:t> — open it in a </a:t>
            </a:r>
            <a:r>
              <a:rPr sz="1400" b="1">
                <a:solidFill>
                  <a:srgbClr val="002A5A"/>
                </a:solidFill>
                <a:latin typeface="Lato"/>
              </a:rPr>
              <a:t>private window</a:t>
            </a:r>
            <a:r>
              <a:rPr sz="1400" b="0">
                <a:solidFill>
                  <a:srgbClr val="002A5A"/>
                </a:solidFill>
                <a:latin typeface="Lato"/>
              </a:rPr>
              <a:t> (Ctrl+Shift+N) so you keep the customer session:</a:t>
            </a:r>
          </a:p>
          <a:p>
            <a:pPr algn="l"/>
            <a:r>
              <a:rPr sz="1400" b="1">
                <a:solidFill>
                  <a:srgbClr val="005CC8"/>
                </a:solidFill>
                <a:latin typeface="Consolas"/>
              </a:rPr>
              <a:t>admin@practicesoftwaretesting.com</a:t>
            </a:r>
            <a:r>
              <a:rPr sz="1400" b="0">
                <a:solidFill>
                  <a:srgbClr val="002A5A"/>
                </a:solidFill>
                <a:latin typeface="Lato"/>
              </a:rPr>
              <a:t> / </a:t>
            </a:r>
            <a:r>
              <a:rPr sz="1400" b="1">
                <a:solidFill>
                  <a:srgbClr val="005CC8"/>
                </a:solidFill>
                <a:latin typeface="Consolas"/>
              </a:rPr>
              <a:t>welcome01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100000"/>
            <a:ext cx="6705600" cy="1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Lato"/>
              </a:rPr>
              <a:t>STEP 2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Lato"/>
              </a:rPr>
              <a:t>Write your charters · 10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2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10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ONE charter per person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Each person takes a DIFFERENT area.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Put all charters at the top of the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A charter =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79712" y="1200000"/>
            <a:ext cx="6800000" cy="394000"/>
          </a:xfrm>
          <a:prstGeom prst="rect">
            <a:avLst/>
          </a:prstGeom>
          <a:solidFill>
            <a:srgbClr val="EEF3FA"/>
          </a:solidFill>
          <a:ln w="12700">
            <a:solidFill>
              <a:srgbClr val="005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600" b="1">
                <a:solidFill>
                  <a:srgbClr val="002A5A"/>
                </a:solidFill>
                <a:latin typeface="Lato"/>
              </a:rPr>
              <a:t>Explore</a:t>
            </a:r>
            <a:r>
              <a:rPr sz="1600" b="0">
                <a:solidFill>
                  <a:srgbClr val="002A5A"/>
                </a:solidFill>
                <a:latin typeface="Lato"/>
              </a:rPr>
              <a:t> (target)  </a:t>
            </a:r>
            <a:r>
              <a:rPr sz="1600" b="1">
                <a:solidFill>
                  <a:srgbClr val="002A5A"/>
                </a:solidFill>
                <a:latin typeface="Lato"/>
              </a:rPr>
              <a:t>with</a:t>
            </a:r>
            <a:r>
              <a:rPr sz="1600" b="0">
                <a:solidFill>
                  <a:srgbClr val="002A5A"/>
                </a:solidFill>
                <a:latin typeface="Lato"/>
              </a:rPr>
              <a:t> (resources)  </a:t>
            </a:r>
            <a:r>
              <a:rPr sz="1600" b="1">
                <a:solidFill>
                  <a:srgbClr val="002A5A"/>
                </a:solidFill>
                <a:latin typeface="Lato"/>
              </a:rPr>
              <a:t>to discover</a:t>
            </a:r>
            <a:r>
              <a:rPr sz="1600" b="0">
                <a:solidFill>
                  <a:srgbClr val="002A5A"/>
                </a:solidFill>
                <a:latin typeface="Lato"/>
              </a:rPr>
              <a:t> (information).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712" y="1695600"/>
            <a:ext cx="6800000" cy="280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02A5A"/>
                </a:solidFill>
                <a:latin typeface="Lato"/>
              </a:rPr>
              <a:t>Good</a:t>
            </a:r>
            <a:r>
              <a:rPr sz="1400" b="0">
                <a:solidFill>
                  <a:srgbClr val="002A5A"/>
                </a:solidFill>
                <a:latin typeface="Lato"/>
              </a:rPr>
              <a:t> charters: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9712" y="2052216"/>
            <a:ext cx="68000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002A5A"/>
                </a:solidFill>
                <a:latin typeface="Lato"/>
              </a:rPr>
              <a:t>•  Explore the </a:t>
            </a:r>
            <a:r>
              <a:rPr sz="1300" b="1">
                <a:solidFill>
                  <a:srgbClr val="002A5A"/>
                </a:solidFill>
                <a:latin typeface="Lato"/>
              </a:rPr>
              <a:t>checkout flow</a:t>
            </a:r>
            <a:r>
              <a:rPr sz="1300" b="0">
                <a:solidFill>
                  <a:srgbClr val="002A5A"/>
                </a:solidFill>
                <a:latin typeface="Lato"/>
              </a:rPr>
              <a:t> with an empty cart and invalid discount codes to discover error-handling problems.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002A5A"/>
                </a:solidFill>
                <a:latin typeface="Lato"/>
              </a:rPr>
              <a:t>•  Explore </a:t>
            </a:r>
            <a:r>
              <a:rPr sz="1300" b="1">
                <a:solidFill>
                  <a:srgbClr val="002A5A"/>
                </a:solidFill>
                <a:latin typeface="Lato"/>
              </a:rPr>
              <a:t>product search</a:t>
            </a:r>
            <a:r>
              <a:rPr sz="1300" b="0">
                <a:solidFill>
                  <a:srgbClr val="002A5A"/>
                </a:solidFill>
                <a:latin typeface="Lato"/>
              </a:rPr>
              <a:t> with very long strings, single characters and non-Latin alphabets to discover input-handling problems.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002A5A"/>
                </a:solidFill>
                <a:latin typeface="Lato"/>
              </a:rPr>
              <a:t>•  Explore the </a:t>
            </a:r>
            <a:r>
              <a:rPr sz="1300" b="1">
                <a:solidFill>
                  <a:srgbClr val="002A5A"/>
                </a:solidFill>
                <a:latin typeface="Lato"/>
              </a:rPr>
              <a:t>customer account pages</a:t>
            </a:r>
            <a:r>
              <a:rPr sz="1300" b="0">
                <a:solidFill>
                  <a:srgbClr val="002A5A"/>
                </a:solidFill>
                <a:latin typeface="Lato"/>
              </a:rPr>
              <a:t> with a second browser session open to discover state and session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9712" y="3527448"/>
            <a:ext cx="680000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02A5A"/>
                </a:solidFill>
                <a:latin typeface="Lato"/>
              </a:rPr>
              <a:t>Bad</a:t>
            </a:r>
            <a:r>
              <a:rPr sz="1300" b="0">
                <a:solidFill>
                  <a:srgbClr val="002A5A"/>
                </a:solidFill>
                <a:latin typeface="Lato"/>
              </a:rPr>
              <a:t> charters:  “Test the shop” (no target) · “Find bugs in the cart” (a wish, not information) · “Explore everything with all data…” (plans nothing)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2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10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Areas must NOT overlap — this is graded.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Split the product between you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79712" y="1200000"/>
          <a:ext cx="6800000" cy="207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000"/>
                <a:gridCol w="4760000"/>
              </a:tblGrid>
              <a:tr h="29637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Area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Where in the shop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Catalogue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Home page, categories, filters, sorting, search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Product page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Details, quantity, add to cart, favourites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Cart &amp; checkout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Cart, quantities, totals, billing address, payment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Accounts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Register, sign in, forgot password, profile, invoices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Contact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Contact form, attachments, validation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Admin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Dashboard, products, orders, users (admin account)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79712" y="3401625"/>
            <a:ext cx="6800000" cy="584500"/>
          </a:xfrm>
          <a:prstGeom prst="rect">
            <a:avLst/>
          </a:prstGeom>
          <a:solidFill>
            <a:srgbClr val="E4F4E8"/>
          </a:solidFill>
          <a:ln w="12700">
            <a:solidFill>
              <a:srgbClr val="1B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002A5A"/>
                </a:solidFill>
                <a:latin typeface="Lato"/>
              </a:rPr>
              <a:t>Done when:</a:t>
            </a:r>
            <a:r>
              <a:rPr sz="1400" b="0">
                <a:solidFill>
                  <a:srgbClr val="002A5A"/>
                </a:solidFill>
                <a:latin typeface="Lato"/>
              </a:rPr>
              <a:t> every person has one charter written down, and no two charters cover the same area.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100000"/>
            <a:ext cx="6705600" cy="1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Lato"/>
              </a:rPr>
              <a:t>STEP 3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Lato"/>
              </a:rPr>
              <a:t>The exploratory session · 40 minutes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3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40 min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TIMER ON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The session is for coverage, not depth.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Rules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1944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</a:t>
            </a:r>
            <a:r>
              <a:rPr sz="1500" b="1">
                <a:solidFill>
                  <a:srgbClr val="002A5A"/>
                </a:solidFill>
                <a:latin typeface="Lato"/>
              </a:rPr>
              <a:t>Set a timer for 40 minutes.</a:t>
            </a:r>
            <a:r>
              <a:rPr sz="1500" b="0">
                <a:solidFill>
                  <a:srgbClr val="002A5A"/>
                </a:solidFill>
                <a:latin typeface="Lato"/>
              </a:rPr>
              <a:t> No phones, no other work. Keeping the time box is part of the exercise.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Each person explores </a:t>
            </a:r>
            <a:r>
              <a:rPr sz="1500" b="1">
                <a:solidFill>
                  <a:srgbClr val="002A5A"/>
                </a:solidFill>
                <a:latin typeface="Lato"/>
              </a:rPr>
              <a:t>their own charter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Write notes </a:t>
            </a:r>
            <a:r>
              <a:rPr sz="1500" b="1">
                <a:solidFill>
                  <a:srgbClr val="002A5A"/>
                </a:solidFill>
                <a:latin typeface="Lato"/>
              </a:rPr>
              <a:t>while</a:t>
            </a:r>
            <a:r>
              <a:rPr sz="1500" b="0">
                <a:solidFill>
                  <a:srgbClr val="002A5A"/>
                </a:solidFill>
                <a:latin typeface="Lato"/>
              </a:rPr>
              <a:t> you explore, not afterwards.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4.  Found something? </a:t>
            </a:r>
            <a:r>
              <a:rPr sz="1500" b="1">
                <a:solidFill>
                  <a:srgbClr val="002A5A"/>
                </a:solidFill>
                <a:latin typeface="Lato"/>
              </a:rPr>
              <a:t>Note it and keep going.</a:t>
            </a:r>
            <a:r>
              <a:rPr sz="1500" b="0">
                <a:solidFill>
                  <a:srgbClr val="002A5A"/>
                </a:solidFill>
                <a:latin typeface="Lato"/>
              </a:rPr>
              <a:t> Do not investigate the cause.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5.  </a:t>
            </a:r>
            <a:r>
              <a:rPr sz="1500" b="1">
                <a:solidFill>
                  <a:srgbClr val="B01E2D"/>
                </a:solidFill>
                <a:latin typeface="Lato"/>
              </a:rPr>
              <a:t>Do not file anything in GitHub Issues today.</a:t>
            </a:r>
            <a:r>
              <a:rPr sz="1500" b="0">
                <a:solidFill>
                  <a:srgbClr val="002A5A"/>
                </a:solidFill>
                <a:latin typeface="Lato"/>
              </a:rPr>
              <a:t> That is next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3220570"/>
            <a:ext cx="6800000" cy="584500"/>
          </a:xfrm>
          <a:prstGeom prst="rect">
            <a:avLst/>
          </a:prstGeom>
          <a:solidFill>
            <a:srgbClr val="EEF3FA"/>
          </a:solidFill>
          <a:ln w="12700">
            <a:solidFill>
              <a:srgbClr val="005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0">
                <a:solidFill>
                  <a:srgbClr val="002A5A"/>
                </a:solidFill>
                <a:latin typeface="Lato"/>
              </a:rPr>
              <a:t>Finished your charter early? You have not “run out”. Write down the time, then start a </a:t>
            </a:r>
            <a:r>
              <a:rPr sz="1400" b="1">
                <a:solidFill>
                  <a:srgbClr val="002A5A"/>
                </a:solidFill>
                <a:latin typeface="Lato"/>
              </a:rPr>
              <a:t>second charter</a:t>
            </a:r>
            <a:r>
              <a:rPr sz="1400" b="0">
                <a:solidFill>
                  <a:srgbClr val="002A5A"/>
                </a:solidFill>
                <a:latin typeface="Lato"/>
              </a:rPr>
              <a:t> in a different area.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3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40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Use the four marks consistently — this is graded.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Mark every note with one of four words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79712" y="1200000"/>
          <a:ext cx="6800000" cy="230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/>
                <a:gridCol w="2312000"/>
                <a:gridCol w="3264000"/>
              </a:tblGrid>
              <a:tr h="29637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Mark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Meaning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Example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ANOMALY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Something that looks wrong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Total does not change after removing the last item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QUESTION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You cannot judge it without asking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Should a discount code work on sale items?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NOTE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Worth knowing about the product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Prices have two decimals everywhere except the invoice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BLOCKED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Something stopped you exploring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Cannot add a payment method without a verified account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3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40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Write it so a stranger could find it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Every ANOMALY: how to get back to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5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Next week you turn anomalies into defect reports. </a:t>
            </a:r>
            <a:r>
              <a:rPr sz="1500" b="1">
                <a:solidFill>
                  <a:srgbClr val="002A5A"/>
                </a:solidFill>
                <a:latin typeface="Lato"/>
              </a:rPr>
              <a:t>An anomaly you cannot find again is an anomaly you cannot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712" y="1804520"/>
            <a:ext cx="6800000" cy="5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Always write: </a:t>
            </a:r>
            <a:r>
              <a:rPr sz="1500" b="1">
                <a:solidFill>
                  <a:srgbClr val="002A5A"/>
                </a:solidFill>
                <a:latin typeface="Lato"/>
              </a:rPr>
              <a:t>which page · which account · which data · what you clicked.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9712" y="2409040"/>
            <a:ext cx="6800000" cy="36225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B01E2D"/>
                </a:solidFill>
                <a:latin typeface="Lato"/>
              </a:rPr>
              <a:t>Too little:</a:t>
            </a:r>
            <a:r>
              <a:rPr sz="1400" b="0">
                <a:solidFill>
                  <a:srgbClr val="002A5A"/>
                </a:solidFill>
                <a:latin typeface="Lato"/>
              </a:rPr>
              <a:t>  “Cart total wrong”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9712" y="2872890"/>
            <a:ext cx="6800000" cy="584500"/>
          </a:xfrm>
          <a:prstGeom prst="rect">
            <a:avLst/>
          </a:prstGeom>
          <a:solidFill>
            <a:srgbClr val="E4F4E8"/>
          </a:solidFill>
          <a:ln w="12700">
            <a:solidFill>
              <a:srgbClr val="1B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002A5A"/>
                </a:solidFill>
                <a:latin typeface="Lato"/>
              </a:rPr>
              <a:t>Good:</a:t>
            </a:r>
            <a:r>
              <a:rPr sz="1400" b="0">
                <a:solidFill>
                  <a:srgbClr val="002A5A"/>
                </a:solidFill>
                <a:latin typeface="Lato"/>
              </a:rPr>
              <a:t>  Log in as customer, add 2 × Claw Hammer, remove both from the cart, look at Total → still shows 29.98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9712" y="3558990"/>
            <a:ext cx="6800000" cy="497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002A5A"/>
                </a:solidFill>
                <a:latin typeface="Lato"/>
              </a:rPr>
              <a:t>You are </a:t>
            </a:r>
            <a:r>
              <a:rPr sz="1400" b="1">
                <a:solidFill>
                  <a:srgbClr val="002A5A"/>
                </a:solidFill>
                <a:latin typeface="Lato"/>
              </a:rPr>
              <a:t>not</a:t>
            </a:r>
            <a:r>
              <a:rPr sz="1400" b="0">
                <a:solidFill>
                  <a:srgbClr val="002A5A"/>
                </a:solidFill>
                <a:latin typeface="Lato"/>
              </a:rPr>
              <a:t> graded on how many anomalies you find. 4 you can reproduce beat 12 you cannot.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100000"/>
            <a:ext cx="6705600" cy="1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Lato"/>
              </a:rPr>
              <a:t>STEP 4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Lato"/>
              </a:rPr>
              <a:t>Debrief as a team · 10 minutes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4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10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Full sentences, not one word 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Answer five questions together — 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295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One person (the scribe) writes the answers into the file: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712" y="1572110"/>
            <a:ext cx="6800000" cy="1944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</a:t>
            </a:r>
            <a:r>
              <a:rPr sz="1500" b="1">
                <a:solidFill>
                  <a:srgbClr val="002A5A"/>
                </a:solidFill>
                <a:latin typeface="Lato"/>
              </a:rPr>
              <a:t>Covered?</a:t>
            </a:r>
            <a:r>
              <a:rPr sz="1500" b="0">
                <a:solidFill>
                  <a:srgbClr val="002A5A"/>
                </a:solidFill>
                <a:latin typeface="Lato"/>
              </a:rPr>
              <a:t> What did we cover? Which area did </a:t>
            </a:r>
            <a:r>
              <a:rPr sz="1500" b="1">
                <a:solidFill>
                  <a:srgbClr val="002A5A"/>
                </a:solidFill>
                <a:latin typeface="Lato"/>
              </a:rPr>
              <a:t>nobody</a:t>
            </a:r>
            <a:r>
              <a:rPr sz="1500" b="0">
                <a:solidFill>
                  <a:srgbClr val="002A5A"/>
                </a:solidFill>
                <a:latin typeface="Lato"/>
              </a:rPr>
              <a:t> touch?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</a:t>
            </a:r>
            <a:r>
              <a:rPr sz="1500" b="1">
                <a:solidFill>
                  <a:srgbClr val="002A5A"/>
                </a:solidFill>
                <a:latin typeface="Lato"/>
              </a:rPr>
              <a:t>Found?</a:t>
            </a:r>
            <a:r>
              <a:rPr sz="1500" b="0">
                <a:solidFill>
                  <a:srgbClr val="002A5A"/>
                </a:solidFill>
                <a:latin typeface="Lato"/>
              </a:rPr>
              <a:t> How many anomalies? Is any of them serious?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</a:t>
            </a:r>
            <a:r>
              <a:rPr sz="1500" b="1">
                <a:solidFill>
                  <a:srgbClr val="002A5A"/>
                </a:solidFill>
                <a:latin typeface="Lato"/>
              </a:rPr>
              <a:t>Blocked?</a:t>
            </a:r>
            <a:r>
              <a:rPr sz="1500" b="0">
                <a:solidFill>
                  <a:srgbClr val="002A5A"/>
                </a:solidFill>
                <a:latin typeface="Lato"/>
              </a:rPr>
              <a:t> What got in the way — missing data, access, unclear behaviour?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4.  </a:t>
            </a:r>
            <a:r>
              <a:rPr sz="1500" b="1">
                <a:solidFill>
                  <a:srgbClr val="002A5A"/>
                </a:solidFill>
                <a:latin typeface="Lato"/>
              </a:rPr>
              <a:t>Learned?</a:t>
            </a:r>
            <a:r>
              <a:rPr sz="1500" b="0">
                <a:solidFill>
                  <a:srgbClr val="002A5A"/>
                </a:solidFill>
                <a:latin typeface="Lato"/>
              </a:rPr>
              <a:t> What do we know about the product that we did not know an hour ago?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5.  </a:t>
            </a:r>
            <a:r>
              <a:rPr sz="1500" b="1">
                <a:solidFill>
                  <a:srgbClr val="002A5A"/>
                </a:solidFill>
                <a:latin typeface="Lato"/>
              </a:rPr>
              <a:t>Next?</a:t>
            </a:r>
            <a:r>
              <a:rPr sz="1500" b="0">
                <a:solidFill>
                  <a:srgbClr val="002A5A"/>
                </a:solidFill>
                <a:latin typeface="Lato"/>
              </a:rPr>
              <a:t> What should the next charter be?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9712" y="3592680"/>
            <a:ext cx="6800000" cy="58450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0">
                <a:solidFill>
                  <a:srgbClr val="002A5A"/>
                </a:solidFill>
                <a:latin typeface="Lato"/>
              </a:rPr>
              <a:t>Be honest about what you did </a:t>
            </a:r>
            <a:r>
              <a:rPr sz="1400" b="1">
                <a:solidFill>
                  <a:srgbClr val="002A5A"/>
                </a:solidFill>
                <a:latin typeface="Lato"/>
              </a:rPr>
              <a:t>not</a:t>
            </a:r>
            <a:r>
              <a:rPr sz="1400" b="0">
                <a:solidFill>
                  <a:srgbClr val="002A5A"/>
                </a:solidFill>
                <a:latin typeface="Lato"/>
              </a:rPr>
              <a:t> cover. A team that claims it covered everything in 40 minutes </a:t>
            </a:r>
            <a:r>
              <a:rPr sz="1400" b="1">
                <a:solidFill>
                  <a:srgbClr val="B01E2D"/>
                </a:solidFill>
                <a:latin typeface="Lato"/>
              </a:rPr>
              <a:t>loses marks</a:t>
            </a:r>
            <a:r>
              <a:rPr sz="1400" b="0">
                <a:solidFill>
                  <a:srgbClr val="002A5A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100000"/>
            <a:ext cx="6705600" cy="1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Lato"/>
              </a:rPr>
              <a:t>STEP 5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Lato"/>
              </a:rPr>
              <a:t>Commit and submit · 5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5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5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Who: the scribe commits the team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5.1  Create the file in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164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In your repository click </a:t>
            </a:r>
            <a:r>
              <a:rPr sz="1500" b="1">
                <a:solidFill>
                  <a:srgbClr val="002A5A"/>
                </a:solidFill>
                <a:latin typeface="Lato"/>
              </a:rPr>
              <a:t>Add file → Create new file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File name: type </a:t>
            </a:r>
            <a:r>
              <a:rPr sz="1500" b="1">
                <a:solidFill>
                  <a:srgbClr val="005CC8"/>
                </a:solidFill>
                <a:latin typeface="Consolas"/>
              </a:rPr>
              <a:t>sessions/L1-session.md</a:t>
            </a:r>
            <a:r>
              <a:rPr sz="1500" b="0">
                <a:solidFill>
                  <a:srgbClr val="002A5A"/>
                </a:solidFill>
                <a:latin typeface="Lato"/>
              </a:rPr>
              <a:t> (the folder appears when you type the slash).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Copy the </a:t>
            </a:r>
            <a:r>
              <a:rPr sz="1500" b="1">
                <a:solidFill>
                  <a:srgbClr val="002A5A"/>
                </a:solidFill>
                <a:latin typeface="Lato"/>
              </a:rPr>
              <a:t>template</a:t>
            </a:r>
            <a:r>
              <a:rPr sz="1500" b="0">
                <a:solidFill>
                  <a:srgbClr val="002A5A"/>
                </a:solidFill>
                <a:latin typeface="Lato"/>
              </a:rPr>
              <a:t> from Moodle (</a:t>
            </a:r>
            <a:r>
              <a:rPr sz="1500" b="1">
                <a:solidFill>
                  <a:srgbClr val="002A5A"/>
                </a:solidFill>
                <a:latin typeface="Lato"/>
              </a:rPr>
              <a:t>Laboratory 1 — instructions</a:t>
            </a:r>
            <a:r>
              <a:rPr sz="1500" b="0">
                <a:solidFill>
                  <a:srgbClr val="002A5A"/>
                </a:solidFill>
                <a:latin typeface="Lato"/>
              </a:rPr>
              <a:t>, bottom of the page) and fill it in.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4.  Click </a:t>
            </a:r>
            <a:r>
              <a:rPr sz="1500" b="1">
                <a:solidFill>
                  <a:srgbClr val="002A5A"/>
                </a:solidFill>
                <a:latin typeface="Lato"/>
              </a:rPr>
              <a:t>Commit changes…</a:t>
            </a:r>
            <a:r>
              <a:rPr sz="1500" b="0">
                <a:solidFill>
                  <a:srgbClr val="002A5A"/>
                </a:solidFill>
                <a:latin typeface="Lato"/>
              </a:rPr>
              <a:t> → </a:t>
            </a:r>
            <a:r>
              <a:rPr sz="1500" b="1">
                <a:solidFill>
                  <a:srgbClr val="002A5A"/>
                </a:solidFill>
                <a:latin typeface="Lato"/>
              </a:rPr>
              <a:t>Commit changes</a:t>
            </a:r>
            <a:r>
              <a:rPr sz="1500" b="0">
                <a:solidFill>
                  <a:srgbClr val="002A5A"/>
                </a:solidFill>
                <a:latin typeface="Lato"/>
              </a:rPr>
              <a:t> (to the main branch).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712" y="2924660"/>
            <a:ext cx="6800000" cy="249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002A5A"/>
                </a:solidFill>
                <a:latin typeface="Lato"/>
              </a:rPr>
              <a:t>What the file contains (full template on Moodle):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9712" y="3250288"/>
            <a:ext cx="6800000" cy="1092500"/>
          </a:xfrm>
          <a:prstGeom prst="rect">
            <a:avLst/>
          </a:prstGeom>
          <a:solidFill>
            <a:srgbClr val="F2F2F2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000">
                <a:solidFill>
                  <a:srgbClr val="002A5A"/>
                </a:solidFill>
                <a:latin typeface="Consolas"/>
              </a:rPr>
              <a:t># Session L1 — Team NN</a:t>
            </a:r>
          </a:p>
          <a:p>
            <a:pPr algn="l"/>
            <a:r>
              <a:rPr sz="1000">
                <a:solidFill>
                  <a:srgbClr val="002A5A"/>
                </a:solidFill>
                <a:latin typeface="Consolas"/>
              </a:rPr>
              <a:t>Date / Build under test: with-bugs / Participants / Time box: 40 minutes</a:t>
            </a:r>
          </a:p>
          <a:p>
            <a:pPr algn="l"/>
            <a:r>
              <a:rPr sz="1000">
                <a:solidFill>
                  <a:srgbClr val="002A5A"/>
                </a:solidFill>
                <a:latin typeface="Consolas"/>
              </a:rPr>
              <a:t>## Charters           — one line per person</a:t>
            </a:r>
          </a:p>
          <a:p>
            <a:pPr algn="l"/>
            <a:r>
              <a:rPr sz="1000">
                <a:solidFill>
                  <a:srgbClr val="002A5A"/>
                </a:solidFill>
                <a:latin typeface="Consolas"/>
              </a:rPr>
              <a:t>## Product model      — your 5 sentences from Step 1</a:t>
            </a:r>
          </a:p>
          <a:p>
            <a:pPr algn="l"/>
            <a:r>
              <a:rPr sz="1000">
                <a:solidFill>
                  <a:srgbClr val="002A5A"/>
                </a:solidFill>
                <a:latin typeface="Consolas"/>
              </a:rPr>
              <a:t>## Session log        — table: # | Mark | Area | What happened | How to get back to it</a:t>
            </a:r>
          </a:p>
          <a:p>
            <a:pPr algn="l"/>
            <a:r>
              <a:rPr sz="1000">
                <a:solidFill>
                  <a:srgbClr val="002A5A"/>
                </a:solidFill>
                <a:latin typeface="Consolas"/>
              </a:rPr>
              <a:t>## Debrief            — answers to the 5 questions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STEP 5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5 min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Each student submits individually, even though the file is shared.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5.2  Submit in Moodle — every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Open the file on GitHub and </a:t>
            </a:r>
            <a:r>
              <a:rPr sz="1500" b="1">
                <a:solidFill>
                  <a:srgbClr val="002A5A"/>
                </a:solidFill>
                <a:latin typeface="Lato"/>
              </a:rPr>
              <a:t>copy the address</a:t>
            </a:r>
            <a:r>
              <a:rPr sz="1500" b="0">
                <a:solidFill>
                  <a:srgbClr val="002A5A"/>
                </a:solidFill>
                <a:latin typeface="Lato"/>
              </a:rPr>
              <a:t> from the browser bar.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In Moodle open </a:t>
            </a:r>
            <a:r>
              <a:rPr sz="1500" b="1">
                <a:solidFill>
                  <a:srgbClr val="002A5A"/>
                </a:solidFill>
                <a:latin typeface="Lato"/>
              </a:rPr>
              <a:t>Week 1 → Lab → Laboratory 1 — assignment: Exploratory session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Click </a:t>
            </a:r>
            <a:r>
              <a:rPr sz="1500" b="1">
                <a:solidFill>
                  <a:srgbClr val="002A5A"/>
                </a:solidFill>
                <a:latin typeface="Lato"/>
              </a:rPr>
              <a:t>Add submission</a:t>
            </a:r>
            <a:r>
              <a:rPr sz="1500" b="0">
                <a:solidFill>
                  <a:srgbClr val="002A5A"/>
                </a:solidFill>
                <a:latin typeface="Lato"/>
              </a:rPr>
              <a:t>. In </a:t>
            </a:r>
            <a:r>
              <a:rPr sz="1500" b="1">
                <a:solidFill>
                  <a:srgbClr val="002A5A"/>
                </a:solidFill>
                <a:latin typeface="Lato"/>
              </a:rPr>
              <a:t>Online text</a:t>
            </a:r>
            <a:r>
              <a:rPr sz="1500" b="0">
                <a:solidFill>
                  <a:srgbClr val="002A5A"/>
                </a:solidFill>
                <a:latin typeface="Lato"/>
              </a:rPr>
              <a:t> paste: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2396340"/>
            <a:ext cx="6800000" cy="128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Team: 03</a:t>
            </a:r>
          </a:p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File: https://github.com/&lt;owner&gt;/app-testing-team-03/blob/main/sessions/L1-session.md</a:t>
            </a:r>
          </a:p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Team members: Anna Kowalska, Jan Nowak, ...</a:t>
            </a:r>
          </a:p>
          <a:p>
            <a:pPr algn="l"/>
            <a:r>
              <a:rPr sz="1200">
                <a:solidFill>
                  <a:srgbClr val="002A5A"/>
                </a:solidFill>
                <a:latin typeface="Consolas"/>
              </a:rPr>
              <a:t>My contribution: my charter was ..., I logged anomalies 3–6, I wrote the debrief answers 2 and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9712" y="3780940"/>
            <a:ext cx="6800000" cy="295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4.  Click </a:t>
            </a:r>
            <a:r>
              <a:rPr sz="1500" b="1">
                <a:solidFill>
                  <a:srgbClr val="002A5A"/>
                </a:solidFill>
                <a:latin typeface="Lato"/>
              </a:rPr>
              <a:t>Save changes</a:t>
            </a:r>
            <a:r>
              <a:rPr sz="1500" b="0">
                <a:solidFill>
                  <a:srgbClr val="002A5A"/>
                </a:solidFill>
                <a:latin typeface="Lato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9712" y="4153050"/>
            <a:ext cx="6800000" cy="58450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002A5A"/>
                </a:solidFill>
                <a:latin typeface="Lato"/>
              </a:rPr>
              <a:t>Deadline: end of the day after your laboratory.</a:t>
            </a:r>
            <a:r>
              <a:rPr sz="1400" b="0">
                <a:solidFill>
                  <a:srgbClr val="002A5A"/>
                </a:solidFill>
                <a:latin typeface="Lato"/>
              </a:rPr>
              <a:t> The link works only for collaborators — that is why the lecturer must be 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GRADING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TP1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How Laboratory 1 is graded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79712" y="1200000"/>
          <a:ext cx="6800000" cy="189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000"/>
                <a:gridCol w="4896000"/>
              </a:tblGrid>
              <a:tr h="29637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Criterion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What full marks look like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Charters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One per person, real target, real information sought; areas do not overlap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Session log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Anomalies described so a stranger could return to them; marks used consistently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Coverage honesty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Debrief says plainly what was not covered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29637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Debrief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Five questions answered with substance, not one word each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79712" y="3221625"/>
            <a:ext cx="6800000" cy="362250"/>
          </a:xfrm>
          <a:prstGeom prst="rect">
            <a:avLst/>
          </a:prstGeom>
          <a:solidFill>
            <a:srgbClr val="EEF3FA"/>
          </a:solidFill>
          <a:ln w="12700">
            <a:solidFill>
              <a:srgbClr val="005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0">
                <a:solidFill>
                  <a:srgbClr val="002A5A"/>
                </a:solidFill>
                <a:latin typeface="Lato"/>
              </a:rPr>
              <a:t>You are </a:t>
            </a:r>
            <a:r>
              <a:rPr sz="1400" b="1">
                <a:solidFill>
                  <a:srgbClr val="002A5A"/>
                </a:solidFill>
                <a:latin typeface="Lato"/>
              </a:rPr>
              <a:t>not</a:t>
            </a:r>
            <a:r>
              <a:rPr sz="1400" b="0">
                <a:solidFill>
                  <a:srgbClr val="002A5A"/>
                </a:solidFill>
                <a:latin typeface="Lato"/>
              </a:rPr>
              <a:t> graded on the number of anomalies found.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REMOTE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Everything else works exactly the same.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Working remotely? Three adjustments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1817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1.  </a:t>
            </a:r>
            <a:r>
              <a:rPr sz="1500" b="1">
                <a:solidFill>
                  <a:srgbClr val="002A5A"/>
                </a:solidFill>
                <a:latin typeface="Lato"/>
              </a:rPr>
              <a:t>Steps 0–2 with your team on a call</a:t>
            </a:r>
            <a:r>
              <a:rPr sz="1500" b="0">
                <a:solidFill>
                  <a:srgbClr val="002A5A"/>
                </a:solidFill>
                <a:latin typeface="Lato"/>
              </a:rPr>
              <a:t> (about 15 min): agree team number, repository and who explores which area.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2.  </a:t>
            </a:r>
            <a:r>
              <a:rPr sz="1500" b="1">
                <a:solidFill>
                  <a:srgbClr val="002A5A"/>
                </a:solidFill>
                <a:latin typeface="Lato"/>
              </a:rPr>
              <a:t>Step 3 alone, on the clock.</a:t>
            </a:r>
            <a:r>
              <a:rPr sz="1500" b="0">
                <a:solidFill>
                  <a:srgbClr val="002A5A"/>
                </a:solidFill>
                <a:latin typeface="Lato"/>
              </a:rPr>
              <a:t> Same 40 minutes, same notes, same marks.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3.  </a:t>
            </a:r>
            <a:r>
              <a:rPr sz="1500" b="1">
                <a:solidFill>
                  <a:srgbClr val="002A5A"/>
                </a:solidFill>
                <a:latin typeface="Lato"/>
              </a:rPr>
              <a:t>Step 4 back together on a call.</a:t>
            </a:r>
            <a:r>
              <a:rPr sz="1500" b="0">
                <a:solidFill>
                  <a:srgbClr val="002A5A"/>
                </a:solidFill>
                <a:latin typeface="Lato"/>
              </a:rPr>
              <a:t> If you really cannot meet: each person writes their own answers, the scribe merges them and notes where you disagreed.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3093570"/>
            <a:ext cx="6800000" cy="80675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0">
                <a:solidFill>
                  <a:srgbClr val="002A5A"/>
                </a:solidFill>
                <a:latin typeface="Lato"/>
              </a:rPr>
              <a:t>Cannot reach your team at all? Do the whole lab </a:t>
            </a:r>
            <a:r>
              <a:rPr sz="1400" b="1">
                <a:solidFill>
                  <a:srgbClr val="002A5A"/>
                </a:solidFill>
                <a:latin typeface="Lato"/>
              </a:rPr>
              <a:t>alone with two charters</a:t>
            </a:r>
            <a:r>
              <a:rPr sz="1400" b="0">
                <a:solidFill>
                  <a:srgbClr val="002A5A"/>
                </a:solidFill>
                <a:latin typeface="Lato"/>
              </a:rPr>
              <a:t>, say so at the top of the file, and post in </a:t>
            </a:r>
            <a:r>
              <a:rPr sz="1400" b="1">
                <a:solidFill>
                  <a:srgbClr val="002A5A"/>
                </a:solidFill>
                <a:latin typeface="Lato"/>
              </a:rPr>
              <a:t>Questions and team finder</a:t>
            </a:r>
            <a:r>
              <a:rPr sz="1400" b="0">
                <a:solidFill>
                  <a:srgbClr val="002A5A"/>
                </a:solidFill>
                <a:latin typeface="Lato"/>
              </a:rPr>
              <a:t> so you get a team before Lab 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If something goes wrong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79712" y="1200000"/>
          <a:ext cx="6800000" cy="230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000"/>
                <a:gridCol w="4760000"/>
              </a:tblGrid>
              <a:tr h="29637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Problem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ato"/>
                        </a:rPr>
                        <a:t>What to do</a:t>
                      </a:r>
                    </a:p>
                  </a:txBody>
                  <a:tcPr marL="60000" marR="60000" marT="30000" marB="30000">
                    <a:solidFill>
                      <a:srgbClr val="002A5A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The shop is down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Switch to ParaBank (link on Moodle: The build under test). Note it in your file and carry on.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Cannot log in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Use a private window. Still nothing? Register your own account and write down which one you used.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Cannot create the repository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Do the session anyway, keep notes in a document, move them to the repository before the deadline.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5027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“Nothing left to explore”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2A5A"/>
                          </a:solidFill>
                          <a:latin typeface="Lato"/>
                        </a:rPr>
                        <a:t>You finished your charter. Write the time down and start a second charter in another area.</a:t>
                      </a:r>
                    </a:p>
                  </a:txBody>
                  <a:tcPr marL="60000" marR="60000" marT="30000" marB="300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000" y="1480000"/>
            <a:ext cx="1500000" cy="3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Lato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300000"/>
            <a:ext cx="6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002A5A"/>
                </a:solidFill>
                <a:latin typeface="Lato"/>
              </a:rPr>
              <a:t>Before you leave — tick all five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1200000"/>
            <a:ext cx="6800000" cy="217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☐  Team registered in </a:t>
            </a:r>
            <a:r>
              <a:rPr sz="1500" b="1">
                <a:solidFill>
                  <a:srgbClr val="002A5A"/>
                </a:solidFill>
                <a:latin typeface="Lato"/>
              </a:rPr>
              <a:t>Team registration</a:t>
            </a:r>
            <a:r>
              <a:rPr sz="1500" b="0">
                <a:solidFill>
                  <a:srgbClr val="002A5A"/>
                </a:solidFill>
                <a:latin typeface="Lato"/>
              </a:rPr>
              <a:t> (same number for everyone)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☐  Team posted in the </a:t>
            </a:r>
            <a:r>
              <a:rPr sz="1500" b="1">
                <a:solidFill>
                  <a:srgbClr val="002A5A"/>
                </a:solidFill>
                <a:latin typeface="Lato"/>
              </a:rPr>
              <a:t>Team directory</a:t>
            </a:r>
            <a:r>
              <a:rPr sz="1500" b="0">
                <a:solidFill>
                  <a:srgbClr val="002A5A"/>
                </a:solidFill>
                <a:latin typeface="Lato"/>
              </a:rPr>
              <a:t> forum discussion with GitHub usernames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☐  Repository </a:t>
            </a:r>
            <a:r>
              <a:rPr sz="1500" b="1">
                <a:solidFill>
                  <a:srgbClr val="005CC8"/>
                </a:solidFill>
                <a:latin typeface="Consolas"/>
              </a:rPr>
              <a:t>app-testing-team-NN</a:t>
            </a:r>
            <a:r>
              <a:rPr sz="1500" b="0">
                <a:solidFill>
                  <a:srgbClr val="002A5A"/>
                </a:solidFill>
                <a:latin typeface="Lato"/>
              </a:rPr>
              <a:t> is </a:t>
            </a:r>
            <a:r>
              <a:rPr sz="1500" b="1">
                <a:solidFill>
                  <a:srgbClr val="002A5A"/>
                </a:solidFill>
                <a:latin typeface="Lato"/>
              </a:rPr>
              <a:t>private</a:t>
            </a:r>
            <a:r>
              <a:rPr sz="1500" b="0">
                <a:solidFill>
                  <a:srgbClr val="002A5A"/>
                </a:solidFill>
                <a:latin typeface="Lato"/>
              </a:rPr>
              <a:t>, all teammates </a:t>
            </a:r>
            <a:r>
              <a:rPr sz="1500" b="1">
                <a:solidFill>
                  <a:srgbClr val="002A5A"/>
                </a:solidFill>
                <a:latin typeface="Lato"/>
              </a:rPr>
              <a:t>and the lecturer</a:t>
            </a:r>
            <a:r>
              <a:rPr sz="1500" b="0">
                <a:solidFill>
                  <a:srgbClr val="002A5A"/>
                </a:solidFill>
                <a:latin typeface="Lato"/>
              </a:rPr>
              <a:t> added, invitations accepted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☐  </a:t>
            </a:r>
            <a:r>
              <a:rPr sz="1500" b="1">
                <a:solidFill>
                  <a:srgbClr val="005CC8"/>
                </a:solidFill>
                <a:latin typeface="Consolas"/>
              </a:rPr>
              <a:t>sessions/L1-session.md</a:t>
            </a:r>
            <a:r>
              <a:rPr sz="1500" b="0">
                <a:solidFill>
                  <a:srgbClr val="002A5A"/>
                </a:solidFill>
                <a:latin typeface="Lato"/>
              </a:rPr>
              <a:t> committed: charters, product model, session log, debrief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2A5A"/>
                </a:solidFill>
                <a:latin typeface="Lato"/>
              </a:rPr>
              <a:t>☐  </a:t>
            </a:r>
            <a:r>
              <a:rPr sz="1500" b="1">
                <a:solidFill>
                  <a:srgbClr val="002A5A"/>
                </a:solidFill>
                <a:latin typeface="Lato"/>
              </a:rPr>
              <a:t>Each of you</a:t>
            </a:r>
            <a:r>
              <a:rPr sz="1500" b="0">
                <a:solidFill>
                  <a:srgbClr val="002A5A"/>
                </a:solidFill>
                <a:latin typeface="Lato"/>
              </a:rPr>
              <a:t> has submitted the link in the Moodle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9712" y="3452980"/>
            <a:ext cx="6800000" cy="806750"/>
          </a:xfrm>
          <a:prstGeom prst="rect">
            <a:avLst/>
          </a:prstGeom>
          <a:solidFill>
            <a:srgbClr val="EEF3FA"/>
          </a:solidFill>
          <a:ln w="12700">
            <a:solidFill>
              <a:srgbClr val="005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60000" bIns="60000"/>
          <a:lstStyle/>
          <a:p>
            <a:pPr algn="l"/>
            <a:r>
              <a:rPr sz="1400" b="1">
                <a:solidFill>
                  <a:srgbClr val="002A5A"/>
                </a:solidFill>
                <a:latin typeface="Lato"/>
              </a:rPr>
              <a:t>Next week (Lab 2): your anomalies become defect reports in GitHub Issues. Bring your session file. Before Lab 2: Entry quiz 1 (Lecture 1 + Lab 1), at home.</a:t>
            </a:r>
            <a:r>
              <a:rPr sz="1400" b="0">
                <a:solidFill>
                  <a:srgbClr val="002A5A"/>
                </a:solidFill>
                <a:latin typeface="Lato"/>
              </a:rPr>
              <a:t/>
            </a:r>
            <a:r>
              <a:rPr sz="1400" b="1">
                <a:solidFill>
                  <a:srgbClr val="002A5A"/>
                </a:solidFill>
                <a:latin typeface="Lato"/>
              </a:rPr>
              <a:t/>
            </a:r>
            <a:r>
              <a:rPr sz="1400" b="0">
                <a:solidFill>
                  <a:srgbClr val="002A5A"/>
                </a:solidFill>
                <a:latin typeface="Lato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75656" y="1900000"/>
            <a:ext cx="6192688" cy="1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002A5A"/>
                </a:solidFill>
                <a:latin typeface="Lato"/>
              </a:rPr>
              <a:t>Questions?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002A5A"/>
                </a:solidFill>
                <a:latin typeface="Lato"/>
              </a:rPr>
              <a:t>Instructions, templates and the build: Moodle → Week 1 → Lab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002A5A"/>
                </a:solidFill>
                <a:latin typeface="Lato"/>
              </a:rPr>
              <a:t>Questions after class: forum “Questions and team finder”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268</Words>
  <Application>Microsoft Office PowerPoint</Application>
  <PresentationFormat>Pokaz na ekranie (16:9)</PresentationFormat>
  <Paragraphs>32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Lato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Agnieszka</dc:creator>
  <cp:lastModifiedBy>Wiktor Bogusz</cp:lastModifiedBy>
  <cp:revision>36</cp:revision>
  <dcterms:created xsi:type="dcterms:W3CDTF">2023-11-01T01:18:51Z</dcterms:created>
  <dcterms:modified xsi:type="dcterms:W3CDTF">2024-01-22T11:56:45Z</dcterms:modified>
</cp:coreProperties>
</file>